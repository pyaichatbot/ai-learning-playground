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621792"/>
            <a:ext cx="5394960" cy="5285232"/>
          </a:xfrm>
          <a:prstGeom prst="rect">
            <a:avLst/>
          </a:prstGeom>
          <a:solidFill>
            <a:srgbClr val="F6F3EB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914400"/>
            <a:ext cx="438912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950" b="1">
                <a:solidFill>
                  <a:srgbClr val="BE7448"/>
                </a:solidFill>
                <a:latin typeface="Aptos"/>
              </a:rPr>
              <a:t>AI-SDLC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4526280" cy="123444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3300" b="1">
                <a:solidFill>
                  <a:srgbClr val="171F2A"/>
                </a:solidFill>
                <a:latin typeface="Aptos"/>
              </a:rPr>
              <a:t>Migration Walkthrough
Comic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4389120" cy="6858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400" b="0">
                <a:solidFill>
                  <a:srgbClr val="171F2A"/>
                </a:solidFill>
                <a:latin typeface="Aptos"/>
              </a:rPr>
              <a:t>An enterprise architect walkthrough: how teams move from legacy pressure to governed AI-assisted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886200"/>
            <a:ext cx="1188720" cy="329184"/>
          </a:xfrm>
          <a:prstGeom prst="roundRect">
            <a:avLst/>
          </a:prstGeom>
          <a:solidFill>
            <a:srgbClr val="7C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931920"/>
            <a:ext cx="107899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Govern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886200"/>
            <a:ext cx="1143000" cy="329184"/>
          </a:xfrm>
          <a:prstGeom prst="roundRect">
            <a:avLst/>
          </a:prstGeom>
          <a:solidFill>
            <a:srgbClr val="2C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3704" y="3931920"/>
            <a:ext cx="1033271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886200"/>
            <a:ext cx="1060704" cy="329184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3931920"/>
            <a:ext cx="950976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886200"/>
            <a:ext cx="841248" cy="329184"/>
          </a:xfrm>
          <a:prstGeom prst="roundRect">
            <a:avLst/>
          </a:prstGeom>
          <a:solidFill>
            <a:srgbClr val="CD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3" y="3931920"/>
            <a:ext cx="73152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138928"/>
            <a:ext cx="4526280" cy="402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171F2A"/>
                </a:solidFill>
                <a:latin typeface="Aptos"/>
              </a:rPr>
              <a:t>Presenter stance: framework first, agents second, evidence always.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ARCHITECT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The story starts with tension, not a tool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e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6537960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15568"/>
            <a:ext cx="6537960" cy="4892040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623559"/>
            <a:ext cx="6537960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660136"/>
            <a:ext cx="635508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enter the AI SDLC path before selecting any coding agent.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207008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39012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G0 -&gt; project-manifest.yml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829818" y="1506931"/>
            <a:ext cx="2026767" cy="782726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Maya: This is now a delivery risk.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2987344" y="1506931"/>
            <a:ext cx="1961388" cy="782726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Omar: Then audit cannot be optional.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4883353" y="1800453"/>
            <a:ext cx="1830628" cy="782726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Rina: No agent before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4927" y="1170432"/>
            <a:ext cx="4069080" cy="34747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000" b="1">
                <a:solidFill>
                  <a:srgbClr val="171F2A"/>
                </a:solidFill>
                <a:latin typeface="Aptos"/>
              </a:rPr>
              <a:t>How to present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1755648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828800"/>
            <a:ext cx="86868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365B96"/>
                </a:solidFill>
                <a:latin typeface="Aptos"/>
              </a:rPr>
              <a:t>Maya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828800"/>
            <a:ext cx="256032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Product 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2414015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487168"/>
            <a:ext cx="86868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7C394C"/>
                </a:solidFill>
                <a:latin typeface="Aptos"/>
              </a:rPr>
              <a:t>Rina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487168"/>
            <a:ext cx="256032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AI architecture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3072384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145536"/>
            <a:ext cx="86868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2C7C82"/>
                </a:solidFill>
                <a:latin typeface="Aptos"/>
              </a:rPr>
              <a:t>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145536"/>
            <a:ext cx="256032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Engineering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3730752"/>
            <a:ext cx="40690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3803904"/>
            <a:ext cx="86868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CD9A4E"/>
                </a:solidFill>
                <a:latin typeface="Aptos"/>
              </a:rPr>
              <a:t>Omar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803904"/>
            <a:ext cx="2560320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050" b="0">
                <a:solidFill>
                  <a:srgbClr val="171F2A"/>
                </a:solidFill>
                <a:latin typeface="Aptos"/>
              </a:rPr>
              <a:t>Risk stakeholder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572000"/>
            <a:ext cx="3977639" cy="82296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500" b="1">
                <a:solidFill>
                  <a:srgbClr val="171F2A"/>
                </a:solidFill>
                <a:latin typeface="Aptos"/>
              </a:rPr>
              <a:t>As the enterprise architect, narrate the operating model: the team can disagree, but the artifact settles the next gate.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5623560"/>
            <a:ext cx="3977639" cy="4114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>
                <a:solidFill>
                  <a:srgbClr val="7C394C"/>
                </a:solidFill>
                <a:latin typeface="Aptos"/>
              </a:rPr>
              <a:t>Core line: The framework is not an abstraction layer. The manifest is the control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ACT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Controlled intake before agent adoption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el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5468112" cy="24140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45536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treat migration delay as an enterprise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1170432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02436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G0 -&gt; intake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630204" y="1247973"/>
            <a:ext cx="2241925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Maya: Six months per feature is the problem.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3364260" y="1247973"/>
            <a:ext cx="2187244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Dev: Every change still touches the monolith.</a:t>
            </a:r>
          </a:p>
        </p:txBody>
      </p:sp>
      <p:pic>
        <p:nvPicPr>
          <p:cNvPr id="13" name="Picture 12" descr="panel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78992"/>
            <a:ext cx="5468112" cy="24140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45536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block agent usage until controls exist.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1170432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02436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G2 -&gt; risk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6528084" y="1247973"/>
            <a:ext cx="2241925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Dev: Can Copilot clear the backlog?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9262140" y="1247973"/>
            <a:ext cx="2187244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Omar: Not without audit trails.</a:t>
            </a:r>
          </a:p>
        </p:txBody>
      </p:sp>
      <p:pic>
        <p:nvPicPr>
          <p:cNvPr id="21" name="Picture 20" descr="panel_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49039"/>
            <a:ext cx="5468112" cy="24140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1148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815584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let the manifest determine the next gate.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" y="3840479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72483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G0/G2 -&gt; manifest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30204" y="3918021"/>
            <a:ext cx="2241925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Rina: We classify risk first.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3364260" y="3918021"/>
            <a:ext cx="2187244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Maya: So the artifact decides next.</a:t>
            </a:r>
          </a:p>
        </p:txBody>
      </p:sp>
      <p:pic>
        <p:nvPicPr>
          <p:cNvPr id="29" name="Picture 28" descr="panel_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49039"/>
            <a:ext cx="5468112" cy="2414016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30936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815584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migrate by domain slice, not big bang.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3840479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72483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G3 -&gt; architecture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6528084" y="3918021"/>
            <a:ext cx="2241925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Rina: Map capabilities and data flows.</a:t>
            </a:r>
          </a:p>
        </p:txBody>
      </p:sp>
      <p:sp>
        <p:nvSpPr>
          <p:cNvPr id="36" name="Rounded Rectangular Callout 35"/>
          <p:cNvSpPr/>
          <p:nvPr/>
        </p:nvSpPr>
        <p:spPr>
          <a:xfrm>
            <a:off x="9262140" y="3918021"/>
            <a:ext cx="2187244" cy="434522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Dev: Then pilot one thin slice.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ACT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Guardrails, subagents, and evidence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el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5468112" cy="24140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145536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guardrails travel with every agent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" y="1170432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02436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G3 -&gt; ADR links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630204" y="1247973"/>
            <a:ext cx="2241925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Omar: Who owns traceability?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3364260" y="1247973"/>
            <a:ext cx="2187244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Rina: The manifest links every decision.</a:t>
            </a:r>
          </a:p>
        </p:txBody>
      </p:sp>
      <p:pic>
        <p:nvPicPr>
          <p:cNvPr id="13" name="Picture 12" descr="panel_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78992"/>
            <a:ext cx="5468112" cy="241401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9360" y="1078992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108960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45536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agents vary, SDLC contract stays fixed.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1170432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02436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G4 -&gt; agent model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6528084" y="1247973"/>
            <a:ext cx="2241925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Dev: Codex here, Claude there?</a:t>
            </a:r>
          </a:p>
        </p:txBody>
      </p:sp>
      <p:sp>
        <p:nvSpPr>
          <p:cNvPr id="20" name="Rounded Rectangular Callout 19"/>
          <p:cNvSpPr/>
          <p:nvPr/>
        </p:nvSpPr>
        <p:spPr>
          <a:xfrm>
            <a:off x="9262140" y="1247973"/>
            <a:ext cx="2187244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Maya: Same gates, different assistants.</a:t>
            </a:r>
          </a:p>
        </p:txBody>
      </p:sp>
      <p:pic>
        <p:nvPicPr>
          <p:cNvPr id="21" name="Picture 20" descr="panel_0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49039"/>
            <a:ext cx="5468112" cy="24140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1148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815584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no merge without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" y="3840479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72483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G5 -&gt; evidence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30204" y="3918021"/>
            <a:ext cx="2241925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Rina: Tests and risk notes first.</a:t>
            </a:r>
          </a:p>
        </p:txBody>
      </p:sp>
      <p:sp>
        <p:nvSpPr>
          <p:cNvPr id="28" name="Rounded Rectangular Callout 27"/>
          <p:cNvSpPr/>
          <p:nvPr/>
        </p:nvSpPr>
        <p:spPr>
          <a:xfrm>
            <a:off x="3364260" y="3918021"/>
            <a:ext cx="2187244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Omar: The team approves, not the tool.</a:t>
            </a:r>
          </a:p>
        </p:txBody>
      </p:sp>
      <p:pic>
        <p:nvPicPr>
          <p:cNvPr id="29" name="Picture 28" descr="panel_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749039"/>
            <a:ext cx="5468112" cy="2414016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309360" y="3749039"/>
            <a:ext cx="5468112" cy="2414016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5779008"/>
            <a:ext cx="5468112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815584"/>
            <a:ext cx="5285232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scale only what becomes measurable.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3840479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872483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G7 -&gt; scale</a:t>
            </a:r>
          </a:p>
        </p:txBody>
      </p:sp>
      <p:sp>
        <p:nvSpPr>
          <p:cNvPr id="35" name="Rounded Rectangular Callout 34"/>
          <p:cNvSpPr/>
          <p:nvPr/>
        </p:nvSpPr>
        <p:spPr>
          <a:xfrm>
            <a:off x="6528084" y="3918021"/>
            <a:ext cx="2241925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36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Maya: Now value is visible each sprint.</a:t>
            </a:r>
          </a:p>
        </p:txBody>
      </p:sp>
      <p:sp>
        <p:nvSpPr>
          <p:cNvPr id="36" name="Rounded Rectangular Callout 35"/>
          <p:cNvSpPr/>
          <p:nvPr/>
        </p:nvSpPr>
        <p:spPr>
          <a:xfrm>
            <a:off x="9262140" y="3918021"/>
            <a:ext cx="2187244" cy="458663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2C7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Dev: And reuse is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MANIFEST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Make the framework tangible at every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nel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80644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143000"/>
            <a:ext cx="5806440" cy="4526280"/>
          </a:xfrm>
          <a:prstGeom prst="rect">
            <a:avLst/>
          </a:prstGeom>
          <a:noFill/>
          <a:ln w="3175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285232"/>
            <a:ext cx="5806440" cy="38404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21808"/>
            <a:ext cx="5623559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Decision: the team does not move gates until the manifest is updated.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1234440"/>
            <a:ext cx="2057400" cy="256032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66444"/>
            <a:ext cx="1901952" cy="16459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control plane</a:t>
            </a:r>
          </a:p>
        </p:txBody>
      </p:sp>
      <p:sp>
        <p:nvSpPr>
          <p:cNvPr id="11" name="Rounded Rectangular Callout 10"/>
          <p:cNvSpPr/>
          <p:nvPr/>
        </p:nvSpPr>
        <p:spPr>
          <a:xfrm>
            <a:off x="851306" y="1505102"/>
            <a:ext cx="2206447" cy="814730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7C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Rina: This is not abstraction.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3580333" y="1505102"/>
            <a:ext cx="2264511" cy="814730"/>
          </a:xfrm>
          <a:prstGeom prst="wedgeRoundRectCallout">
            <a:avLst/>
          </a:prstGeom>
          <a:solidFill>
            <a:srgbClr val="FFFFFF"/>
          </a:solidFill>
          <a:ln w="20320">
            <a:solidFill>
              <a:srgbClr val="CD9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b="1" sz="950">
                <a:solidFill>
                  <a:srgbClr val="171F2A"/>
                </a:solidFill>
                <a:latin typeface="Aptos"/>
              </a:rPr>
              <a:t>Omar: Show me the control record.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143000"/>
            <a:ext cx="4800600" cy="4526280"/>
          </a:xfrm>
          <a:prstGeom prst="rect">
            <a:avLst/>
          </a:prstGeom>
          <a:solidFill>
            <a:srgbClr val="FFFFFF"/>
          </a:solidFill>
          <a:ln w="2032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1289304"/>
            <a:ext cx="4471416" cy="2286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365B96"/>
                </a:solidFill>
                <a:latin typeface="Aptos"/>
              </a:rPr>
              <a:t>project-manifest.yml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1673352"/>
            <a:ext cx="4398264" cy="383133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30" b="0">
                <a:solidFill>
                  <a:srgbClr val="171F2A"/>
                </a:solidFill>
                <a:latin typeface="Aptos"/>
              </a:rPr>
              <a:t>project:
  scenario: migration
  owner: product-platform
  criticality: high
ai_sdlc:
  onboarding_mode: onboard-lite
  current_gate: G2-risk
risk:
  classification: high
  human_approval_required: true
architecture:
  decision_records:
    - adr/001-domain-slice.md
agents:
  allowed: [codex, claude, copilot]
evidence:
  required: [tests, risk_notes, arch_review]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78992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00" b="1">
                <a:solidFill>
                  <a:srgbClr val="171F2A"/>
                </a:solidFill>
                <a:latin typeface="Aptos"/>
              </a:rPr>
              <a:t>Presenter cue: point to the YAML, not the process name. The manifest is how governance becomes executable.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ARCHITECT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Use the comic as a guided decision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10607040" cy="329184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500" b="1">
                <a:solidFill>
                  <a:srgbClr val="171F2A"/>
                </a:solidFill>
                <a:latin typeface="Aptos"/>
              </a:rPr>
              <a:t>For each panel, ask: What decision is being made? Which artifact enforces it? What proof unlocks the next gate?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5087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7C394C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1508760" cy="640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Legacy delay and unclear ownership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648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331720"/>
            <a:ext cx="15087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CD9A4E"/>
                </a:solidFill>
                <a:latin typeface="Aptos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788920"/>
            <a:ext cx="1508760" cy="640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Classify risk and choose the migration slice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02936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331720"/>
            <a:ext cx="15087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365B96"/>
                </a:solidFill>
                <a:latin typeface="Aptos"/>
              </a:rPr>
              <a:t>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5816" y="2788920"/>
            <a:ext cx="1508760" cy="640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Manifest, knowledge, ADRs, subagents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8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07224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2331720"/>
            <a:ext cx="15087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2C7C82"/>
                </a:solidFill>
                <a:latin typeface="Aptos"/>
              </a:rPr>
              <a:t>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788920"/>
            <a:ext cx="1508760" cy="640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Evidence before merge and release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09176" y="2770632"/>
            <a:ext cx="347472" cy="438912"/>
          </a:xfrm>
          <a:prstGeom prst="rightArrow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11512" y="2048256"/>
            <a:ext cx="1874519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94392" y="2331720"/>
            <a:ext cx="15087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400" b="1">
                <a:solidFill>
                  <a:srgbClr val="52895E"/>
                </a:solidFill>
                <a:latin typeface="Aptos"/>
              </a:rP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2" y="2788920"/>
            <a:ext cx="1508760" cy="64008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050" b="0">
                <a:solidFill>
                  <a:srgbClr val="171F2A"/>
                </a:solidFill>
                <a:latin typeface="Aptos"/>
              </a:rPr>
              <a:t>Measured modernization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46320"/>
            <a:ext cx="10058400" cy="50292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800" b="1">
                <a:solidFill>
                  <a:srgbClr val="171F2A"/>
                </a:solidFill>
                <a:latin typeface="Aptos"/>
              </a:rPr>
              <a:t>The story lands when the audience sees one thing clearly: the framework turns tool usage into governed SDLC decisions.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18688" y="5650992"/>
            <a:ext cx="1280160" cy="329184"/>
          </a:xfrm>
          <a:prstGeom prst="roundRect">
            <a:avLst/>
          </a:prstGeom>
          <a:solidFill>
            <a:srgbClr val="7C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3552" y="5696712"/>
            <a:ext cx="1170431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Claude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36592" y="5650992"/>
            <a:ext cx="1188720" cy="329184"/>
          </a:xfrm>
          <a:prstGeom prst="roundRect">
            <a:avLst/>
          </a:prstGeom>
          <a:solidFill>
            <a:srgbClr val="2C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1455" y="5696712"/>
            <a:ext cx="107899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Codex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650992"/>
            <a:ext cx="1691640" cy="329184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5696712"/>
            <a:ext cx="158191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GitHub Copilot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5650992"/>
            <a:ext cx="1298448" cy="329184"/>
          </a:xfrm>
          <a:prstGeom prst="roundRect">
            <a:avLst/>
          </a:prstGeom>
          <a:solidFill>
            <a:srgbClr val="CD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5696712"/>
            <a:ext cx="1188719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Future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219456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50" b="1">
                <a:solidFill>
                  <a:srgbClr val="BE7448"/>
                </a:solidFill>
                <a:latin typeface="Aptos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8961120" cy="38404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2200" b="1">
                <a:solidFill>
                  <a:srgbClr val="171F2A"/>
                </a:solidFill>
                <a:latin typeface="Aptos"/>
              </a:rPr>
              <a:t>When teams should engage the AI SDLC framework POC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38560" cy="18288"/>
          </a:xfrm>
          <a:prstGeom prst="rect">
            <a:avLst/>
          </a:prstGeom>
          <a:solidFill>
            <a:srgbClr val="17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07008"/>
            <a:ext cx="5532120" cy="566928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600" b="1">
                <a:solidFill>
                  <a:srgbClr val="171F2A"/>
                </a:solidFill>
                <a:latin typeface="Aptos"/>
              </a:rPr>
              <a:t>Use this closing slide to position ownership operationally, not personally: you are the entry point for consistent framework enablement.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234440" cy="329184"/>
          </a:xfrm>
          <a:prstGeom prst="roundRect">
            <a:avLst/>
          </a:prstGeom>
          <a:solidFill>
            <a:srgbClr val="7C3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3" y="2103120"/>
            <a:ext cx="112471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2075688"/>
            <a:ext cx="388620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>
                <a:solidFill>
                  <a:srgbClr val="171F2A"/>
                </a:solidFill>
                <a:latin typeface="Aptos"/>
              </a:rPr>
              <a:t>Use-case and risk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15768"/>
            <a:ext cx="1234440" cy="329184"/>
          </a:xfrm>
          <a:prstGeom prst="roundRect">
            <a:avLst/>
          </a:prstGeom>
          <a:solidFill>
            <a:srgbClr val="3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761487"/>
            <a:ext cx="112471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Onboard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2734056"/>
            <a:ext cx="388620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>
                <a:solidFill>
                  <a:srgbClr val="171F2A"/>
                </a:solidFill>
                <a:latin typeface="Aptos"/>
              </a:rPr>
              <a:t>Manifest + knowledge 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74136"/>
            <a:ext cx="1234440" cy="329184"/>
          </a:xfrm>
          <a:prstGeom prst="roundRect">
            <a:avLst/>
          </a:prstGeom>
          <a:solidFill>
            <a:srgbClr val="2C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3" y="3419856"/>
            <a:ext cx="112471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6272" y="3392424"/>
            <a:ext cx="388620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>
                <a:solidFill>
                  <a:srgbClr val="171F2A"/>
                </a:solidFill>
                <a:latin typeface="Aptos"/>
              </a:rPr>
              <a:t>ADRs, boundaries, data 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032504"/>
            <a:ext cx="1234440" cy="329184"/>
          </a:xfrm>
          <a:prstGeom prst="roundRect">
            <a:avLst/>
          </a:prstGeom>
          <a:solidFill>
            <a:srgbClr val="CD9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" y="4078224"/>
            <a:ext cx="112471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Enable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6272" y="4050791"/>
            <a:ext cx="388620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>
                <a:solidFill>
                  <a:srgbClr val="171F2A"/>
                </a:solidFill>
                <a:latin typeface="Aptos"/>
              </a:rPr>
              <a:t>Prompts, commands, subagents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690872"/>
            <a:ext cx="1234440" cy="329184"/>
          </a:xfrm>
          <a:prstGeom prst="roundRect">
            <a:avLst/>
          </a:prstGeom>
          <a:solidFill>
            <a:srgbClr val="5A6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3" y="4736592"/>
            <a:ext cx="1124712" cy="21945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4709159"/>
            <a:ext cx="3886200" cy="256032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250" b="1">
                <a:solidFill>
                  <a:srgbClr val="171F2A"/>
                </a:solidFill>
                <a:latin typeface="Aptos"/>
              </a:rPr>
              <a:t>Tests, reviews, release proof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1417320"/>
            <a:ext cx="4709160" cy="4389120"/>
          </a:xfrm>
          <a:prstGeom prst="rect">
            <a:avLst/>
          </a:prstGeom>
          <a:solidFill>
            <a:srgbClr val="FFFFFF"/>
          </a:solidFill>
          <a:ln w="20320">
            <a:solidFill>
              <a:srgbClr val="17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1563624"/>
            <a:ext cx="4379976" cy="228600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1100" b="1">
                <a:solidFill>
                  <a:srgbClr val="365B96"/>
                </a:solidFill>
                <a:latin typeface="Aptos"/>
              </a:rPr>
              <a:t>POC handoff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1947672"/>
            <a:ext cx="4306824" cy="369417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l"/>
            <a:r>
              <a:rPr sz="830" b="0">
                <a:solidFill>
                  <a:srgbClr val="171F2A"/>
                </a:solidFill>
                <a:latin typeface="Aptos"/>
              </a:rPr>
              <a:t>before teams start:
  engage: ai-sdlc-framework-poc
  bring:
    - problem statement
    - target system
    - data sensitivity
    - intended agents
    - release path
framework_owner_provides:
  - onboarding path
  - manifest readiness
  - governance alignment
  - artifact templates
  - evidence gate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26480"/>
            <a:ext cx="10607040" cy="310896"/>
          </a:xfrm>
          <a:prstGeom prst="rect">
            <a:avLst/>
          </a:prstGeom>
          <a:noFill/>
        </p:spPr>
        <p:txBody>
          <a:bodyPr wrap="square" anchor="ctr" lIns="54864" rIns="54864" tIns="18288" bIns="18288">
            <a:spAutoFit/>
          </a:bodyPr>
          <a:lstStyle/>
          <a:p>
            <a:pPr algn="ctr"/>
            <a:r>
              <a:rPr sz="1300" b="1">
                <a:solidFill>
                  <a:srgbClr val="7C394C"/>
                </a:solidFill>
                <a:latin typeface="Aptos"/>
              </a:rPr>
              <a:t>Suggested close: 'The comic is the onboarding layer. The asset is the operating model behind it.'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