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ne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5394960" cy="5285232"/>
          </a:xfrm>
          <a:prstGeom prst="rect">
            <a:avLst/>
          </a:prstGeom>
          <a:solidFill>
            <a:srgbClr val="F6F3EB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914400"/>
            <a:ext cx="43891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50" b="1">
                <a:solidFill>
                  <a:srgbClr val="BE7448"/>
                </a:solidFill>
                <a:latin typeface="Aptos"/>
              </a:rPr>
              <a:t>AI-SDLC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526280" cy="12344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3300" b="1">
                <a:solidFill>
                  <a:srgbClr val="171F2A"/>
                </a:solidFill>
                <a:latin typeface="Aptos"/>
              </a:rPr>
              <a:t>Migration Walkthrough
Comic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4389120" cy="6858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171F2A"/>
                </a:solidFill>
                <a:latin typeface="Aptos"/>
              </a:rPr>
              <a:t>A decision-driven enterprise story for moving legacy delivery into governed AI-assisted SDLC.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886200"/>
            <a:ext cx="1188720" cy="329184"/>
          </a:xfrm>
          <a:prstGeom prst="roundRect">
            <a:avLst/>
          </a:prstGeom>
          <a:solidFill>
            <a:srgbClr val="7C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931920"/>
            <a:ext cx="1078992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Govern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886200"/>
            <a:ext cx="1143000" cy="329184"/>
          </a:xfrm>
          <a:prstGeom prst="roundRect">
            <a:avLst/>
          </a:prstGeom>
          <a:solidFill>
            <a:srgbClr val="2C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3704" y="3931920"/>
            <a:ext cx="1033271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886200"/>
            <a:ext cx="1060704" cy="329184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4" y="3931920"/>
            <a:ext cx="950976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886200"/>
            <a:ext cx="841248" cy="329184"/>
          </a:xfrm>
          <a:prstGeom prst="roundRect">
            <a:avLst/>
          </a:prstGeom>
          <a:solidFill>
            <a:srgbClr val="CD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3" y="3931920"/>
            <a:ext cx="73152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138928"/>
            <a:ext cx="4526280" cy="40233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100" b="1">
                <a:solidFill>
                  <a:srgbClr val="171F2A"/>
                </a:solidFill>
                <a:latin typeface="Aptos"/>
              </a:rPr>
              <a:t>Agent-agnostic: Claude, Codex, GitHub Copilot, and future assistants.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Start with the business problem, then enforce the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ne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6537960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15568"/>
            <a:ext cx="6537960" cy="4892040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5623559"/>
            <a:ext cx="6537960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5660136"/>
            <a:ext cx="63550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Situation: migration pressure is real, but tool-first adoption would create unmanaged risk.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895197" y="1506931"/>
            <a:ext cx="2222906" cy="880567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The monolith is now a delivery risk, not just technical debt.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248863" y="1506931"/>
            <a:ext cx="1896008" cy="880567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Then the first artifact is intake and risk classification.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4883353" y="1800453"/>
            <a:ext cx="1830628" cy="831646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No agent before governance.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1170432"/>
            <a:ext cx="4069080" cy="34747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000" b="1">
                <a:solidFill>
                  <a:srgbClr val="171F2A"/>
                </a:solidFill>
                <a:latin typeface="Aptos"/>
              </a:rPr>
              <a:t>Enterprise 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755648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86868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100" b="1">
                <a:solidFill>
                  <a:srgbClr val="365B96"/>
                </a:solidFill>
                <a:latin typeface="Aptos"/>
              </a:rPr>
              <a:t>Maya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828800"/>
            <a:ext cx="256032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Product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414015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487168"/>
            <a:ext cx="86868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100" b="1">
                <a:solidFill>
                  <a:srgbClr val="7C394C"/>
                </a:solidFill>
                <a:latin typeface="Aptos"/>
              </a:rPr>
              <a:t>Rina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87168"/>
            <a:ext cx="256032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AI architecture lead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072384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3145536"/>
            <a:ext cx="86868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100" b="1">
                <a:solidFill>
                  <a:srgbClr val="2C7C82"/>
                </a:solidFill>
                <a:latin typeface="Aptos"/>
              </a:rPr>
              <a:t>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45536"/>
            <a:ext cx="256032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Engineering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3730752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40" y="3803904"/>
            <a:ext cx="86868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100" b="1">
                <a:solidFill>
                  <a:srgbClr val="CD9A4E"/>
                </a:solidFill>
                <a:latin typeface="Aptos"/>
              </a:rPr>
              <a:t>Omar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803904"/>
            <a:ext cx="2560320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Risk stakeholder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800600"/>
            <a:ext cx="3977639" cy="7315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71F2A"/>
                </a:solidFill>
                <a:latin typeface="Aptos"/>
              </a:rPr>
              <a:t>Walkthrough rule: every panel shows a decision and the AI-SDLC artifact that makes it repeatable.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ACT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Controlled intake before agent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ne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5468112" cy="24140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145536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Trigger: legacy pain becomes a business constraint.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630204" y="1223832"/>
            <a:ext cx="2351288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Six months per feature is no longer acceptable.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309579" y="1223832"/>
            <a:ext cx="2296607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Every change carries unknown blast radius.</a:t>
            </a:r>
          </a:p>
        </p:txBody>
      </p:sp>
      <p:pic>
        <p:nvPicPr>
          <p:cNvPr id="11" name="Picture 10" descr="panel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78992"/>
            <a:ext cx="5468112" cy="24140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0936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145536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Conflict: agent-first thinking creates governance risk.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6528084" y="1223832"/>
            <a:ext cx="2351288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Should we just let the assistants attack the backlog?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9207459" y="1223832"/>
            <a:ext cx="2296607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Only after access, audit, and approval paths exist.</a:t>
            </a:r>
          </a:p>
        </p:txBody>
      </p:sp>
      <p:pic>
        <p:nvPicPr>
          <p:cNvPr id="17" name="Picture 16" descr="panel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49039"/>
            <a:ext cx="5468112" cy="24140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1148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815584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Framework step: intake, risk class, and decision record.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630204" y="3893880"/>
            <a:ext cx="2351288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We start with the SDLC map, not a vendor choice.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3309579" y="3893880"/>
            <a:ext cx="2296607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Good. The artifact should decide the next step.</a:t>
            </a:r>
          </a:p>
        </p:txBody>
      </p:sp>
      <p:pic>
        <p:nvPicPr>
          <p:cNvPr id="23" name="Picture 22" descr="panel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49039"/>
            <a:ext cx="5468112" cy="241401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30936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migrate by domain slice with explicit ownership.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528084" y="3893880"/>
            <a:ext cx="2351288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Map capabilities, dependencies, data, and owners.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9207459" y="3893880"/>
            <a:ext cx="2296607" cy="50694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Pilot one thin slice before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ACT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Guardrails, subagents, and evidence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nel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5468112" cy="24140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145536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Architecture guardrails: controls travel with the work.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333116" y="1091611"/>
            <a:ext cx="2351288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Every agent action needs traceability.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3582985" y="1137331"/>
            <a:ext cx="2296607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 dirty="0">
                <a:solidFill>
                  <a:srgbClr val="171F2A"/>
                </a:solidFill>
                <a:latin typeface="Aptos"/>
              </a:rPr>
              <a:t>The reference architecture sets the boundary.</a:t>
            </a:r>
          </a:p>
        </p:txBody>
      </p:sp>
      <p:pic>
        <p:nvPicPr>
          <p:cNvPr id="11" name="Picture 10" descr="panel_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78992"/>
            <a:ext cx="5468112" cy="24140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0936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145536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Agent-agnostic execution: same artifacts, different assistants.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6528084" y="1223832"/>
            <a:ext cx="2351288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Codex here, Claude there, Copilot in the IDE.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9207459" y="1223832"/>
            <a:ext cx="2296607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The framework stays the same.</a:t>
            </a:r>
          </a:p>
        </p:txBody>
      </p:sp>
      <p:pic>
        <p:nvPicPr>
          <p:cNvPr id="17" name="Picture 16" descr="panel_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49039"/>
            <a:ext cx="5468112" cy="241401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1148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815584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 enforcement: evidence before merge or release.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630204" y="3893880"/>
            <a:ext cx="2351288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No merge without tests, risk notes, and architecture checks.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3309579" y="3893880"/>
            <a:ext cx="2296607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The assistant prepares evidence; the team decides.</a:t>
            </a:r>
          </a:p>
        </p:txBody>
      </p:sp>
      <p:pic>
        <p:nvPicPr>
          <p:cNvPr id="23" name="Picture 22" descr="panel_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49039"/>
            <a:ext cx="5468112" cy="241401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30936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5285232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Outcome: modernization becomes measurable.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528084" y="3893880"/>
            <a:ext cx="2351288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Now stakeholders see scope, risk, and value each sprint.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9207459" y="3893880"/>
            <a:ext cx="2296607" cy="53108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950" b="1">
                <a:solidFill>
                  <a:srgbClr val="171F2A"/>
                </a:solidFill>
                <a:latin typeface="Aptos"/>
              </a:rPr>
              <a:t>Governance is part of delivery, not a separate ceremony.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WALKTHROUGH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Use the comic as a guided decision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07040" cy="329184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500" b="1">
                <a:solidFill>
                  <a:srgbClr val="171F2A"/>
                </a:solidFill>
                <a:latin typeface="Aptos"/>
              </a:rPr>
              <a:t>For each panel, ask: What is the decision? Which artifact enforces it? What outcome becomes safer or faster?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5087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7C394C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508760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Legacy delay and unclear ownership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98648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1528" y="2331720"/>
            <a:ext cx="15087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CD9A4E"/>
                </a:solidFill>
                <a:latin typeface="Aptos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788920"/>
            <a:ext cx="1508760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Classify risk and choose the migration slice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02936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85816" y="2331720"/>
            <a:ext cx="15087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365B96"/>
                </a:solidFill>
                <a:latin typeface="Aptos"/>
              </a:rPr>
              <a:t>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788920"/>
            <a:ext cx="1508760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Governance, architecture, subagents, prompts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8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07224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0104" y="2331720"/>
            <a:ext cx="15087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2C7C82"/>
                </a:solidFill>
                <a:latin typeface="Aptos"/>
              </a:rP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788920"/>
            <a:ext cx="1508760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Evidence before merge and release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09176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11512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94392" y="2331720"/>
            <a:ext cx="150876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52895E"/>
                </a:solidFill>
                <a:latin typeface="Aptos"/>
              </a:rP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788920"/>
            <a:ext cx="1508760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Measured modernization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46320"/>
            <a:ext cx="10058400" cy="5029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800" b="1">
                <a:solidFill>
                  <a:srgbClr val="171F2A"/>
                </a:solidFill>
                <a:latin typeface="Aptos"/>
              </a:rPr>
              <a:t>The story lands because it is not about commands. It is about enterprise decisions made repeatable across agents.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5650992"/>
            <a:ext cx="1280160" cy="329184"/>
          </a:xfrm>
          <a:prstGeom prst="roundRect">
            <a:avLst/>
          </a:prstGeom>
          <a:solidFill>
            <a:srgbClr val="7C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73552" y="5696712"/>
            <a:ext cx="1170431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Claude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5650992"/>
            <a:ext cx="1188720" cy="329184"/>
          </a:xfrm>
          <a:prstGeom prst="roundRect">
            <a:avLst/>
          </a:prstGeom>
          <a:solidFill>
            <a:srgbClr val="2C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91455" y="5696712"/>
            <a:ext cx="1078992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Codex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650992"/>
            <a:ext cx="1691640" cy="329184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27064" y="5696712"/>
            <a:ext cx="1581912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GitHub Copilot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5650992"/>
            <a:ext cx="1298448" cy="329184"/>
          </a:xfrm>
          <a:prstGeom prst="roundRect">
            <a:avLst/>
          </a:prstGeom>
          <a:solidFill>
            <a:srgbClr val="CD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56448" y="5696712"/>
            <a:ext cx="1188719" cy="21945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Future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451</Words>
  <Application>Microsoft Macintosh PowerPoint</Application>
  <PresentationFormat>Widescreen</PresentationFormat>
  <Paragraphs>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yellamaraju</cp:lastModifiedBy>
  <cp:revision>2</cp:revision>
  <dcterms:created xsi:type="dcterms:W3CDTF">2013-01-27T09:14:16Z</dcterms:created>
  <dcterms:modified xsi:type="dcterms:W3CDTF">2026-05-02T06:40:08Z</dcterms:modified>
  <cp:category/>
</cp:coreProperties>
</file>